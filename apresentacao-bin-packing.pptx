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9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Bin Packing Unidimensional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Garantias de pior caso × desempenho médio das heurísticas clássicas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04040"/>
                </a:solidFill>
              </a:defRPr>
            </a:pPr>
            <a:r>
              <a:t>Benjamin Yuji Suzuki — Ciência da Computação (CESUPA)</a:t>
            </a:r>
          </a:p>
          <a:p>
            <a:pPr>
              <a:spcAft>
                <a:spcPts val="800"/>
              </a:spcAft>
              <a:defRPr sz="2200">
                <a:solidFill>
                  <a:srgbClr val="404040"/>
                </a:solidFill>
              </a:defRPr>
            </a:pPr>
            <a:r>
              <a:t>Análise e Projeto de Algoritmos — 2026</a:t>
            </a:r>
          </a:p>
          <a:p>
            <a:pPr>
              <a:spcAft>
                <a:spcPts val="800"/>
              </a:spcAft>
              <a:defRPr sz="2200">
                <a:solidFill>
                  <a:srgbClr val="404040"/>
                </a:solidFill>
              </a:defRPr>
            </a:pPr>
            <a:r>
              <a:t>Eixo principal: E7 (algoritmos aproximativos) · Secundários: E3 (intratabilidade) e E5 (gulosos)</a:t>
            </a:r>
          </a:p>
          <a:p>
            <a:pPr>
              <a:spcAft>
                <a:spcPts val="800"/>
              </a:spcAft>
              <a:defRPr sz="2200">
                <a:solidFill>
                  <a:srgbClr val="404040"/>
                </a:solidFill>
              </a:defRPr>
            </a:pPr>
            <a:r>
              <a:t>Código: github.com/Benjamin-Yuji-Suzuki/bin-packing-heuristics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O problema: empacotar com o mínimo de recipientes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Entrada:** lista de itens L = (s1, …, sn), tamanhos si ∈ (0, 1]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Saída:** partição de L em “bins” com soma ≤ 1 por bin, minimizando o número de bins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Aparece em toda parte: alocação de arquivos em disco, lotes de tarefas, corte de matéria-prima, logística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Instâncias pequenas são fáceis; o problema é escalável — n de 1.000 a 16.000 itens no nosso experimento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Por que é difícil:** NP-completo no sentido forte (redução de 3-PARTIÇÃO) — sem FPTAS esperado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Formalização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Solução viável: função f: {1..n} → {1..k} com Σ si ≤ 1 por bin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Custo: k (número de bins). OPT(L) = custo mínimo.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Razão de aproximação: A(L)/OPT(L); ρ-aproximativo: A(L) ≤ ρ·OPT(L) + c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Lower bound usado no experimento: L2 de Martello–Toth (1990) — L1 = ⌈Σ si⌉ refinado por corte α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Tamanho da instância: n (número de itens); medimos qualidade e tempo em função de 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Cinco heurísticas, uma linha de código cada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2194560"/>
                <a:gridCol w="310896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Heurística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Regra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Tempo (direta)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Garantia de pior caso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1 bin aberto; fecha se não couber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2·OPT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primeiro bin que couber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1.7·OPT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bin com menor resíduo que couber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1.7·OPT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FF após ordenar decrescente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11/9·OPT + 6/9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BFD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BF após ordenar decrescente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11/9·OPT + 6/9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120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Garantias: Johnson et al. 1974 (NF/FF/BF) · Dósa 2007 (FFD, constante exata 6/9 — 34 anos em aberto)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Estado da arte: três frentes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1. Pior caso (clássica):** Johnson et al. 1974; Dósa 2007/2013 — limites exatos, tightness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→ responde “quão ruim PODE ser?”</a:t>
            </a:r>
          </a:p>
          <a:p>
            <a:pPr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2. Probabilística (random-order):** Kenyon 1996 (conjectura ≈1.15) · Albers et al. 2021 (5/4 p/ itens &gt; ⅓) · Hebbar et al. 2024 (quebra 3/2, LB 1.144) · Ayyadevara et al. 2025 (BF ótimo p/ itens &gt; ⅓)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→ responde “quão ruim é EM MÉDIA?” (assintótico, sem custo temporal)</a:t>
            </a:r>
          </a:p>
          <a:p>
            <a:pPr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t>3. Experimental/metaheurísticas:** Falkenauer 1996 (benchmarks U{1/10..1/2}) · Martello–Toth 1990 (L2, solver MTP) · Karmarkar–Karp 1982 (OPT + O(log² OPT), inviável na prática)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→ responde “que instâncias testar?”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 lacuna que o artigo ocupa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Nenhuma referência mede, lado a lado, qualidade E tempo das implementações diretas nas distribuições de benchmark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A linha teórica não inclui custo temporal; a experimental não escala as heurísticas simples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Nossa contribuição: experimento fatorial reprodutível (código aberto, sementes determinísticas)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4 distribuições × 5 tamanhos (1.000 → 16.000) × 10 repetições × 5 algoritmos = 1.000 execuções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Métricas: razão A(I)/L2(I) e tempo de parede (µs) + regressão log-log do expoente empírico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Implementação:** Rust 1.98, --release com LTO, implementações diretas (FF/BF varrem bins linearmente)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Distribuições:** U[0,1] · U{1/100..1} · 3-partição (itens em ¼–½, caso difícil) · Falkenauer U{1/10..1/2}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Denominador:** L2 de Martello–Toth (uma vez por instância)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Ambiente:** i5-13420H, 16 GB, Linux Mint 22.3 — single-thread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Reprodutibilidade:** sementes via splitmix64; CSV com as 1.000 execuções no repositório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Resultados — tabela comparativa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Razão média vs L2 · tempo médio (µs) em n = 16.000 · 10 repetições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1371600"/>
                <a:gridCol w="1463040"/>
                <a:gridCol w="1554480"/>
                <a:gridCol w="1554480"/>
                <a:gridCol w="1463040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Algoritmo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Garantia teórica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U[0,1]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U{1/100}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3-partição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Falkenauer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tempo (µs)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NF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2·OPT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1.328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1.323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1.235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1.198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1.7·OPT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25.527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BF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1.7·OPT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1.131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48.228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FFD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11/9·OPT + 6/9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30.774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BFD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11/9·OPT + 6/9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1.105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1.014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71.068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2120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Razões empíricas muito abaixo das garantias (FFD: 1.001 vs 1.222) · 3-partição é o caso difícil · tempo separa mais que qualidade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Resultados — gráficos</a:t>
            </a:r>
          </a:p>
        </p:txBody>
      </p:sp>
      <p:pic>
        <p:nvPicPr>
          <p:cNvPr id="3" name="Picture 2" descr="grafico_temp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669280" cy="3644537"/>
          </a:xfrm>
          <a:prstGeom prst="rect">
            <a:avLst/>
          </a:prstGeom>
        </p:spPr>
      </p:pic>
      <p:pic>
        <p:nvPicPr>
          <p:cNvPr id="4" name="Picture 3" descr="grafico_razao_3part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669280" cy="3644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949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Curvas empíricas casam com a teoria: NF linear, FF/BF quadráticas (expoente ≈ 2 na regressão log-log)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Pior caso ≠ caso típico:** a distância entre garantia e média é enorme — instâncias adversariais não representam a prática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3-partição é o divisor:** sem itens pequenos (“argamassa”), todas as heurísticas degradam (FF: 1.02 → 1.13)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Custo × benefício:** NF é 170× mais rápido que FF em n=16.000 com razão só 30% pior — para streaming com orçamento apertado, NF pode vencer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Achado inesperado:** contrexemplos onde FFD(I) &gt; FF(I) — ordenar NÃO é monotonicamente benéfico (registrado pelos testes de propriedade)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Bônus: mesma assintótica, constantes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04040"/>
                </a:solidFill>
              </a:defRPr>
            </a:pPr>
            <a:r>
              <a:t>Mesmas instâncias (binário f64), mesmos algoritmos em Rust, C, C++ e Python — otimização máxima em todas, máquina ociosa</a:t>
            </a:r>
          </a:p>
          <a:p>
            <a:pPr>
              <a:spcAft>
                <a:spcPts val="1000"/>
              </a:spcAft>
              <a:defRPr sz="1400">
                <a:solidFill>
                  <a:srgbClr val="404040"/>
                </a:solidFill>
              </a:defRPr>
            </a:pPr>
            <a:r>
              <a:t>Bins idênticos em 100% das 9.000 comparações — validação cruzada de corretude</a:t>
            </a:r>
          </a:p>
          <a:p>
            <a:pPr>
              <a:spcAft>
                <a:spcPts val="1000"/>
              </a:spcAft>
              <a:defRPr sz="1400">
                <a:solidFill>
                  <a:srgbClr val="404040"/>
                </a:solidFill>
              </a:defRPr>
            </a:pPr>
            <a:r>
              <a:t>Rust GANHA em NF (1.7× mais rápido que C) e BF; empata em BFD; 2–8% atrás em FF/FFD</a:t>
            </a:r>
          </a:p>
          <a:p>
            <a:pPr>
              <a:spcAft>
                <a:spcPts val="1000"/>
              </a:spcAft>
              <a:defRPr sz="1400">
                <a:solidFill>
                  <a:srgbClr val="404040"/>
                </a:solidFill>
              </a:defRPr>
            </a:pPr>
            <a:r>
              <a:t>Python: ~15× atrás no linear, ~53–63× nos quadráticos</a:t>
            </a:r>
          </a:p>
          <a:p>
            <a:pPr>
              <a:spcAft>
                <a:spcPts val="1000"/>
              </a:spcAft>
              <a:defRPr sz="1400">
                <a:solidFill>
                  <a:srgbClr val="404040"/>
                </a:solidFill>
              </a:defRPr>
            </a:pPr>
            <a:r>
              <a:t>O-grande igual, constante diferente — e a constante também depende do IDIOMA, não só da linguagem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Código, dados e gráficos: github.com/Benjamin-Yuji-Suzuki/bin-packing-heuristics — obrigado! Perguntas?</a:t>
            </a:r>
          </a:p>
        </p:txBody>
      </p:sp>
      <p:pic>
        <p:nvPicPr>
          <p:cNvPr id="6" name="Picture 5" descr="grafico_linguage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71600"/>
            <a:ext cx="6949440" cy="25489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Cronograma do 2º bimestre e riscos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2560320"/>
                <a:gridCol w="2560320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Atividade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Entrega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Risco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Escala até n = 64.000 + tamanhos intermediários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Semana 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Solver exato (B&amp;B com L2) p/ n ≤ 100 → razão vs 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Semana 3-4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Médio (tempo de busca)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Experimento random-order (BF embaralhado) vs conjectura 1.144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Semana 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Médio (interpretação)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Seções 4-5 do artigo + gráficos definitivos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Semana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Seminário final (15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Semana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2120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Mitigação: solver exato só para instâncias pequenas (n ≤ 100), com timeout; random-order já tem literatura de referência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